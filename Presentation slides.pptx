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0"/>
  </p:notesMasterIdLst>
  <p:sldIdLst>
    <p:sldId id="2767" r:id="rId5"/>
    <p:sldId id="257" r:id="rId6"/>
    <p:sldId id="258" r:id="rId7"/>
    <p:sldId id="2768" r:id="rId8"/>
    <p:sldId id="260" r:id="rId9"/>
    <p:sldId id="261" r:id="rId10"/>
    <p:sldId id="269" r:id="rId11"/>
    <p:sldId id="2769" r:id="rId12"/>
    <p:sldId id="263" r:id="rId13"/>
    <p:sldId id="270" r:id="rId14"/>
    <p:sldId id="265" r:id="rId15"/>
    <p:sldId id="266" r:id="rId16"/>
    <p:sldId id="268" r:id="rId17"/>
    <p:sldId id="2770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95"/>
  </p:normalViewPr>
  <p:slideViewPr>
    <p:cSldViewPr snapToGrid="0">
      <p:cViewPr>
        <p:scale>
          <a:sx n="75" d="100"/>
          <a:sy n="75" d="100"/>
        </p:scale>
        <p:origin x="792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5/29/2026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882" y="264161"/>
            <a:ext cx="11382549" cy="3779520"/>
          </a:xfrm>
        </p:spPr>
        <p:txBody>
          <a:bodyPr anchor="b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Title:</a:t>
            </a:r>
            <a:r>
              <a:rPr lang="en-US" sz="3600" dirty="0">
                <a:solidFill>
                  <a:schemeClr val="tx1"/>
                </a:solidFill>
              </a:rPr>
              <a:t> </a:t>
            </a:r>
            <a:r>
              <a:rPr lang="en-US" sz="3600" cap="none" dirty="0">
                <a:solidFill>
                  <a:schemeClr val="tx1"/>
                </a:solidFill>
              </a:rPr>
              <a:t>Regularized Logistic Regression: Performance, Sparsity, And Feature Selection</a:t>
            </a:r>
            <a:br>
              <a:rPr lang="en-US" sz="3600" dirty="0">
                <a:solidFill>
                  <a:schemeClr val="tx1"/>
                </a:solidFill>
              </a:rPr>
            </a:b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b="1" dirty="0">
                <a:solidFill>
                  <a:schemeClr val="tx1"/>
                </a:solidFill>
              </a:rPr>
              <a:t>Subtitle:</a:t>
            </a:r>
            <a:r>
              <a:rPr lang="en-US" sz="3600" dirty="0">
                <a:solidFill>
                  <a:schemeClr val="tx1"/>
                </a:solidFill>
              </a:rPr>
              <a:t> </a:t>
            </a:r>
            <a:r>
              <a:rPr lang="en-US" sz="3600" cap="none" dirty="0">
                <a:solidFill>
                  <a:schemeClr val="tx1"/>
                </a:solidFill>
              </a:rPr>
              <a:t>Experiments On Synthetic, Breast Cancer (Polynomial), And Digits Datasets</a:t>
            </a:r>
            <a:br>
              <a:rPr lang="en-US" sz="3600" dirty="0">
                <a:solidFill>
                  <a:schemeClr val="tx1"/>
                </a:solidFill>
              </a:rPr>
            </a:b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b="1" dirty="0">
                <a:solidFill>
                  <a:schemeClr val="tx1"/>
                </a:solidFill>
              </a:rPr>
              <a:t>Date:</a:t>
            </a:r>
            <a:r>
              <a:rPr lang="en-US" sz="3600" dirty="0">
                <a:solidFill>
                  <a:schemeClr val="tx1"/>
                </a:solidFill>
              </a:rPr>
              <a:t> </a:t>
            </a:r>
            <a:r>
              <a:rPr lang="en-US" sz="3600" cap="none" dirty="0">
                <a:solidFill>
                  <a:schemeClr val="tx1"/>
                </a:solidFill>
              </a:rPr>
              <a:t>[Date]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3809" y="5951549"/>
            <a:ext cx="8458191" cy="906452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Presentation by Abubakar Ahmad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Motivation &amp; Goals</a:t>
            </a:r>
          </a:p>
          <a:p>
            <a:r>
              <a:rPr lang="en-US" dirty="0"/>
              <a:t>Experiment 1: Synthetic High‑Dimensional Data (p &gt;&gt; n)</a:t>
            </a:r>
          </a:p>
          <a:p>
            <a:r>
              <a:rPr lang="en-US" dirty="0"/>
              <a:t>Experiment 2: Breast Cancer + Polynomial Features</a:t>
            </a:r>
          </a:p>
          <a:p>
            <a:r>
              <a:rPr lang="en-US" dirty="0"/>
              <a:t>Experiment 3: Digits Binary Classification</a:t>
            </a:r>
          </a:p>
          <a:p>
            <a:r>
              <a:rPr lang="en-US" dirty="0"/>
              <a:t>Cross‑Validation &amp; Statistical Tests</a:t>
            </a:r>
          </a:p>
          <a:p>
            <a:r>
              <a:rPr lang="en-US" dirty="0"/>
              <a:t>Learning Curves, ROC, and Feature Importance</a:t>
            </a:r>
          </a:p>
          <a:p>
            <a:r>
              <a:rPr lang="en-US" dirty="0"/>
              <a:t>Summary &amp; Key Takeaways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08" y="91440"/>
            <a:ext cx="11381223" cy="1066800"/>
          </a:xfrm>
        </p:spPr>
        <p:txBody>
          <a:bodyPr anchor="b">
            <a:normAutofit/>
          </a:bodyPr>
          <a:lstStyle/>
          <a:p>
            <a:r>
              <a:rPr lang="en-US" b="1" dirty="0"/>
              <a:t>Why Regularization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9448" y="1849120"/>
            <a:ext cx="7444232" cy="4023360"/>
          </a:xfrm>
        </p:spPr>
        <p:txBody>
          <a:bodyPr>
            <a:normAutofit/>
          </a:bodyPr>
          <a:lstStyle/>
          <a:p>
            <a:r>
              <a:rPr lang="en-US" sz="2000" b="1" dirty="0"/>
              <a:t>Problem:</a:t>
            </a:r>
            <a:r>
              <a:rPr lang="en-US" sz="2000" dirty="0"/>
              <a:t> High‑dimensional data → overfitting, non‑interpretable models.</a:t>
            </a:r>
          </a:p>
          <a:p>
            <a:r>
              <a:rPr lang="en-US" sz="2000" b="1" dirty="0"/>
              <a:t>Solutions compared:</a:t>
            </a:r>
            <a:endParaRPr lang="en-US" sz="2000" dirty="0"/>
          </a:p>
          <a:p>
            <a:r>
              <a:rPr lang="en-US" sz="2000" b="1" dirty="0"/>
              <a:t>L2 (Ridge)</a:t>
            </a:r>
            <a:r>
              <a:rPr lang="en-US" sz="2000" dirty="0"/>
              <a:t> – shrinks coefficients but no sparsity.</a:t>
            </a:r>
          </a:p>
          <a:p>
            <a:r>
              <a:rPr lang="en-US" sz="2000" b="1" dirty="0"/>
              <a:t>L1 (Lasso)</a:t>
            </a:r>
            <a:r>
              <a:rPr lang="en-US" sz="2000" dirty="0"/>
              <a:t> – induces sparsity, feature selection.</a:t>
            </a:r>
          </a:p>
          <a:p>
            <a:r>
              <a:rPr lang="en-US" sz="2000" b="1" dirty="0" err="1"/>
              <a:t>ElasticNet</a:t>
            </a:r>
            <a:r>
              <a:rPr lang="en-US" sz="2000" dirty="0"/>
              <a:t> – balances L1 and L2, handles correlated features.</a:t>
            </a:r>
          </a:p>
          <a:p>
            <a:r>
              <a:rPr lang="en-US" sz="2000" b="1" dirty="0"/>
              <a:t>Goal:</a:t>
            </a:r>
            <a:r>
              <a:rPr lang="en-US" sz="2000" dirty="0"/>
              <a:t> Find best trade‑off between </a:t>
            </a:r>
            <a:r>
              <a:rPr lang="en-US" sz="2000" b="1" dirty="0"/>
              <a:t>accuracy</a:t>
            </a:r>
            <a:r>
              <a:rPr lang="en-US" sz="2000" dirty="0"/>
              <a:t> and </a:t>
            </a:r>
            <a:r>
              <a:rPr lang="en-US" sz="2000" b="1" dirty="0"/>
              <a:t>sparsity</a:t>
            </a:r>
            <a:r>
              <a:rPr lang="en-US" sz="2000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FC93-FE33-B17E-E50C-7ED72B6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F8419-B190-098D-8454-1DFB27CD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Experiment 1 – Synthetic High‑Dimensional Data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738F1-51E0-8995-D399-A20C731CE00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Setup:</a:t>
            </a:r>
            <a:endParaRPr lang="en-US" sz="2000" dirty="0"/>
          </a:p>
          <a:p>
            <a:r>
              <a:rPr lang="en-US" sz="2000" dirty="0"/>
              <a:t>500 samples, 2000 features, 50 informative.</a:t>
            </a:r>
          </a:p>
          <a:p>
            <a:r>
              <a:rPr lang="en-US" sz="2000" dirty="0"/>
              <a:t>Train / test split (80/20), </a:t>
            </a:r>
            <a:r>
              <a:rPr lang="en-US" sz="2000" dirty="0" err="1"/>
              <a:t>StandardScaler</a:t>
            </a:r>
            <a:r>
              <a:rPr lang="en-US" sz="2000" dirty="0"/>
              <a:t>.</a:t>
            </a:r>
            <a:endParaRPr lang="en-US" sz="2000" b="1" dirty="0"/>
          </a:p>
          <a:p>
            <a:r>
              <a:rPr lang="en-US" sz="2000" b="1" dirty="0"/>
              <a:t>Key results: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74466-836A-1AA4-9AD7-83CC39B7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79AE7C-7883-A8F7-5273-03611A15B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818146"/>
              </p:ext>
            </p:extLst>
          </p:nvPr>
        </p:nvGraphicFramePr>
        <p:xfrm>
          <a:off x="494404" y="3805153"/>
          <a:ext cx="9988539" cy="1931655"/>
        </p:xfrm>
        <a:graphic>
          <a:graphicData uri="http://schemas.openxmlformats.org/drawingml/2006/table">
            <a:tbl>
              <a:tblPr/>
              <a:tblGrid>
                <a:gridCol w="2278942">
                  <a:extLst>
                    <a:ext uri="{9D8B030D-6E8A-4147-A177-3AD203B41FA5}">
                      <a16:colId xmlns:a16="http://schemas.microsoft.com/office/drawing/2014/main" val="1889856825"/>
                    </a:ext>
                  </a:extLst>
                </a:gridCol>
                <a:gridCol w="2566383">
                  <a:extLst>
                    <a:ext uri="{9D8B030D-6E8A-4147-A177-3AD203B41FA5}">
                      <a16:colId xmlns:a16="http://schemas.microsoft.com/office/drawing/2014/main" val="3902625280"/>
                    </a:ext>
                  </a:extLst>
                </a:gridCol>
                <a:gridCol w="2573347">
                  <a:extLst>
                    <a:ext uri="{9D8B030D-6E8A-4147-A177-3AD203B41FA5}">
                      <a16:colId xmlns:a16="http://schemas.microsoft.com/office/drawing/2014/main" val="452336758"/>
                    </a:ext>
                  </a:extLst>
                </a:gridCol>
                <a:gridCol w="2569867">
                  <a:extLst>
                    <a:ext uri="{9D8B030D-6E8A-4147-A177-3AD203B41FA5}">
                      <a16:colId xmlns:a16="http://schemas.microsoft.com/office/drawing/2014/main" val="985906541"/>
                    </a:ext>
                  </a:extLst>
                </a:gridCol>
              </a:tblGrid>
              <a:tr h="6807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 err="1">
                          <a:effectLst/>
                          <a:latin typeface="quote-cjk-patch"/>
                        </a:rPr>
                        <a:t>Regularizer</a:t>
                      </a:r>
                      <a:endParaRPr lang="en-US" sz="1400" b="1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quote-cjk-patch"/>
                        </a:rPr>
                        <a:t>Best C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quote-cjk-patch"/>
                        </a:rPr>
                        <a:t>Accuracy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quote-cjk-patch"/>
                        </a:rPr>
                        <a:t>Sparsity (# non‑zero </a:t>
                      </a:r>
                      <a:r>
                        <a:rPr lang="en-US" sz="1400" b="1" dirty="0" err="1">
                          <a:effectLst/>
                          <a:latin typeface="quote-cjk-patch"/>
                        </a:rPr>
                        <a:t>coef</a:t>
                      </a:r>
                      <a:r>
                        <a:rPr lang="en-US" sz="1400" b="1" dirty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473106"/>
                  </a:ext>
                </a:extLst>
              </a:tr>
              <a:tr h="30000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L2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0.0001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0.66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1997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896651"/>
                  </a:ext>
                </a:extLst>
              </a:tr>
              <a:tr h="30000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L1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0.1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0.65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152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71549"/>
                  </a:ext>
                </a:extLst>
              </a:tr>
              <a:tr h="49035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quote-cjk-patch"/>
                        </a:rPr>
                        <a:t>ElasticNet</a:t>
                      </a:r>
                      <a:r>
                        <a:rPr lang="en-US" sz="1400" b="0" dirty="0">
                          <a:effectLst/>
                          <a:latin typeface="quote-cjk-patch"/>
                        </a:rPr>
                        <a:t> 0.6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0.037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0.66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83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13484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4B63AAD-CD8C-D5E1-2CCD-8B2A8D0ACE2F}"/>
              </a:ext>
            </a:extLst>
          </p:cNvPr>
          <p:cNvSpPr txBox="1"/>
          <p:nvPr/>
        </p:nvSpPr>
        <p:spPr>
          <a:xfrm>
            <a:off x="494404" y="5903335"/>
            <a:ext cx="107993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Observation:</a:t>
            </a:r>
          </a:p>
          <a:p>
            <a:r>
              <a:rPr lang="en-US" dirty="0"/>
              <a:t>L1 and </a:t>
            </a:r>
            <a:r>
              <a:rPr lang="en-US" dirty="0" err="1"/>
              <a:t>ElasticNet</a:t>
            </a:r>
            <a:r>
              <a:rPr lang="en-US" dirty="0"/>
              <a:t> reduce features from 2000 → 152 / 83 with almost no accuracy loss.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63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8">
            <a:extLst>
              <a:ext uri="{FF2B5EF4-FFF2-40B4-BE49-F238E27FC236}">
                <a16:creationId xmlns:a16="http://schemas.microsoft.com/office/drawing/2014/main" id="{F6FB75F8-1373-E100-71BE-CA344D14AE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" t="192" r="111" b="1651"/>
          <a:stretch>
            <a:fillRect/>
          </a:stretch>
        </p:blipFill>
        <p:spPr>
          <a:xfrm>
            <a:off x="120650" y="1332159"/>
            <a:ext cx="11950700" cy="4193682"/>
          </a:xfrm>
          <a:prstGeom prst="rect">
            <a:avLst/>
          </a:prstGeom>
          <a:noFill/>
        </p:spPr>
      </p:pic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4E2E664-B024-4B15-A27C-3009EED3249B}" type="datetime1">
              <a:rPr lang="en-US" smtClean="0"/>
              <a:pPr>
                <a:spcAft>
                  <a:spcPts val="600"/>
                </a:spcAft>
              </a:pPr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A12B-9FEC-9EC2-45A2-67466ADB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 anchor="ctr">
            <a:normAutofit/>
          </a:bodyPr>
          <a:lstStyle/>
          <a:p>
            <a:r>
              <a:rPr lang="en-US" sz="3000" b="1"/>
              <a:t>Experiment 2 – Breast Cancer + Polynomial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5467266" cy="4905116"/>
          </a:xfrm>
        </p:spPr>
        <p:txBody>
          <a:bodyPr>
            <a:normAutofit/>
          </a:bodyPr>
          <a:lstStyle/>
          <a:p>
            <a:r>
              <a:rPr lang="en-US" b="1" dirty="0"/>
              <a:t>Motivation:</a:t>
            </a:r>
            <a:r>
              <a:rPr lang="en-US" dirty="0"/>
              <a:t> Non‑linear effects → degree‑2 polynomial features.</a:t>
            </a:r>
          </a:p>
          <a:p>
            <a:r>
              <a:rPr lang="en-US" b="1" dirty="0"/>
              <a:t>Resulting feature count:</a:t>
            </a:r>
            <a:r>
              <a:rPr lang="en-US" dirty="0"/>
              <a:t> ~5000 (dense, correlated).</a:t>
            </a:r>
          </a:p>
          <a:p>
            <a:r>
              <a:rPr lang="en-US" b="1" dirty="0"/>
              <a:t>Best test accuracy:</a:t>
            </a:r>
            <a:endParaRPr lang="en-US" dirty="0"/>
          </a:p>
          <a:p>
            <a:r>
              <a:rPr lang="en-US" dirty="0"/>
              <a:t>L2 → </a:t>
            </a:r>
            <a:r>
              <a:rPr lang="en-US" b="1" dirty="0"/>
              <a:t>0.96</a:t>
            </a:r>
            <a:endParaRPr lang="en-US" dirty="0"/>
          </a:p>
          <a:p>
            <a:r>
              <a:rPr lang="en-US" dirty="0" err="1"/>
              <a:t>ElasticNet</a:t>
            </a:r>
            <a:r>
              <a:rPr lang="en-US" dirty="0"/>
              <a:t> (l1_ratio=0.3…0.9) → also </a:t>
            </a:r>
            <a:r>
              <a:rPr lang="en-US" b="1" dirty="0"/>
              <a:t>0.96</a:t>
            </a:r>
            <a:r>
              <a:rPr lang="en-US" dirty="0"/>
              <a:t> but with sparsity.</a:t>
            </a:r>
          </a:p>
          <a:p>
            <a:r>
              <a:rPr lang="en-US" b="1" dirty="0"/>
              <a:t>Sparsity behavior (right panel of figure):</a:t>
            </a:r>
            <a:endParaRPr lang="en-US" dirty="0"/>
          </a:p>
          <a:p>
            <a:r>
              <a:rPr lang="en-US" dirty="0"/>
              <a:t>L2 uses all features.</a:t>
            </a:r>
          </a:p>
          <a:p>
            <a:r>
              <a:rPr lang="en-US" dirty="0" err="1"/>
              <a:t>ElasticNet</a:t>
            </a:r>
            <a:r>
              <a:rPr lang="en-US" dirty="0"/>
              <a:t> with higher l1_ratio drives many polynomial coefficients to zero.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F48E6117-E0DF-1244-DE16-AAEEE651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5/29/2026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F72A2F3B-8CEF-EE22-B927-D73B8753D75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" t="-1676" r="-472" b="-3122"/>
          <a:stretch>
            <a:fillRect/>
          </a:stretch>
        </p:blipFill>
        <p:spPr>
          <a:xfrm>
            <a:off x="5580000" y="1512000"/>
            <a:ext cx="6624000" cy="4716000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Experiment 3 – Digits (3 vs. not‑3)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D08B-C7CA-70C3-F459-4B8F8CFD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7B2A7F-AD1D-46F9-E825-7630D76FD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8"/>
            <a:ext cx="11125032" cy="2525846"/>
          </a:xfrm>
        </p:spPr>
        <p:txBody>
          <a:bodyPr>
            <a:normAutofit lnSpcReduction="10000"/>
          </a:bodyPr>
          <a:lstStyle/>
          <a:p>
            <a:endParaRPr lang="en-US" b="1" dirty="0"/>
          </a:p>
          <a:p>
            <a:r>
              <a:rPr lang="en-US" b="1" dirty="0"/>
              <a:t>Binary classification</a:t>
            </a:r>
            <a:r>
              <a:rPr lang="en-US" dirty="0"/>
              <a:t> (1797 images, 64 pixels).</a:t>
            </a:r>
          </a:p>
          <a:p>
            <a:r>
              <a:rPr lang="en-US" b="1" dirty="0"/>
              <a:t>Grid search results:</a:t>
            </a:r>
            <a:endParaRPr lang="en-US" dirty="0"/>
          </a:p>
          <a:p>
            <a:r>
              <a:rPr lang="en-US" dirty="0"/>
              <a:t>L1 (C≈2.64) → Acc = </a:t>
            </a:r>
            <a:r>
              <a:rPr lang="en-US" b="1" dirty="0"/>
              <a:t>0.9917</a:t>
            </a:r>
            <a:r>
              <a:rPr lang="en-US" dirty="0"/>
              <a:t>, sparse (many zero coefficients).</a:t>
            </a:r>
          </a:p>
          <a:p>
            <a:r>
              <a:rPr lang="en-US" dirty="0" err="1"/>
              <a:t>ElasticNet</a:t>
            </a:r>
            <a:r>
              <a:rPr lang="en-US" dirty="0"/>
              <a:t> (C≈1.93) → same accuracy, also sparse.</a:t>
            </a:r>
          </a:p>
          <a:p>
            <a:r>
              <a:rPr lang="en-US" b="1" dirty="0"/>
              <a:t>Dummy classifier (most frequent):</a:t>
            </a:r>
            <a:r>
              <a:rPr lang="en-US" dirty="0"/>
              <a:t> ~0.90 accuracy → regularized models provide real gain.</a:t>
            </a:r>
          </a:p>
        </p:txBody>
      </p:sp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AC1A-A12E-5EC8-83DF-3E4ACBC5E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3C822-C85A-29EA-FAE7-56A0562C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Cross‑Validation &amp; ANOVA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D38E1-DC65-BFF6-1D3C-AD31573D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893A99-8883-79F9-6FE0-0FC61745F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8"/>
            <a:ext cx="11125032" cy="3293288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b="1" dirty="0"/>
              <a:t>10‑fold stratified CV on Breast Cancer</a:t>
            </a:r>
            <a:r>
              <a:rPr lang="en-US" sz="2000" dirty="0"/>
              <a:t> (no polynomial features).</a:t>
            </a:r>
          </a:p>
          <a:p>
            <a:r>
              <a:rPr lang="en-US" sz="2000" dirty="0"/>
              <a:t>Mean accuracy (L2, L1, </a:t>
            </a:r>
            <a:r>
              <a:rPr lang="en-US" sz="2000" dirty="0" err="1"/>
              <a:t>ElasticNet</a:t>
            </a:r>
            <a:r>
              <a:rPr lang="en-US" sz="2000" dirty="0"/>
              <a:t>) ≈ </a:t>
            </a:r>
            <a:r>
              <a:rPr lang="en-US" sz="2000" b="1" dirty="0"/>
              <a:t>0.97</a:t>
            </a:r>
            <a:r>
              <a:rPr lang="en-US" sz="2000" dirty="0"/>
              <a:t> – very close.</a:t>
            </a:r>
          </a:p>
          <a:p>
            <a:r>
              <a:rPr lang="en-US" sz="2000" b="1" dirty="0"/>
              <a:t>ANOVA p‑value</a:t>
            </a:r>
            <a:r>
              <a:rPr lang="en-US" sz="2000" dirty="0"/>
              <a:t> → </a:t>
            </a:r>
            <a:r>
              <a:rPr lang="en-US" sz="2000" b="1" dirty="0"/>
              <a:t>&gt;0.05</a:t>
            </a:r>
            <a:r>
              <a:rPr lang="en-US" sz="2000" dirty="0"/>
              <a:t> → no statistically significant difference in CV scores.</a:t>
            </a:r>
          </a:p>
          <a:p>
            <a:endParaRPr lang="en-US" sz="2000" b="1" dirty="0"/>
          </a:p>
          <a:p>
            <a:r>
              <a:rPr lang="en-US" sz="2000" b="1" dirty="0"/>
              <a:t>Interpretation:</a:t>
            </a:r>
            <a:r>
              <a:rPr lang="en-US" sz="2000" dirty="0"/>
              <a:t> All three </a:t>
            </a:r>
            <a:r>
              <a:rPr lang="en-US" sz="2000" dirty="0" err="1"/>
              <a:t>regularizers</a:t>
            </a:r>
            <a:r>
              <a:rPr lang="en-US" sz="2000" dirty="0"/>
              <a:t> perform equally well on low‑dimensional data.</a:t>
            </a:r>
            <a:br>
              <a:rPr lang="en-US" sz="2000" dirty="0"/>
            </a:br>
            <a:r>
              <a:rPr lang="en-US" sz="2000" dirty="0"/>
              <a:t>Regularization choice should then be based on </a:t>
            </a:r>
            <a:r>
              <a:rPr lang="en-US" sz="2000" b="1" dirty="0"/>
              <a:t>sparsity / interpretability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7473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9467859" cy="932688"/>
          </a:xfrm>
        </p:spPr>
        <p:txBody>
          <a:bodyPr anchor="b">
            <a:normAutofit/>
          </a:bodyPr>
          <a:lstStyle/>
          <a:p>
            <a:r>
              <a:rPr lang="en-US" sz="2700" b="1" dirty="0"/>
              <a:t>Learning Curve – L2 Logistic Regression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507253"/>
            <a:ext cx="4573413" cy="3970003"/>
          </a:xfrm>
        </p:spPr>
        <p:txBody>
          <a:bodyPr>
            <a:normAutofit/>
          </a:bodyPr>
          <a:lstStyle/>
          <a:p>
            <a:r>
              <a:rPr lang="en-US" sz="2000" b="1" dirty="0"/>
              <a:t>Key insights:</a:t>
            </a:r>
            <a:endParaRPr lang="en-US" sz="2000" dirty="0"/>
          </a:p>
          <a:p>
            <a:r>
              <a:rPr lang="en-US" sz="2000" dirty="0"/>
              <a:t>Training accuracy quickly reaches ~0.965.</a:t>
            </a:r>
          </a:p>
          <a:p>
            <a:r>
              <a:rPr lang="en-US" sz="2000" dirty="0"/>
              <a:t>Validation accuracy </a:t>
            </a:r>
            <a:r>
              <a:rPr lang="en-US" sz="2000" dirty="0" err="1"/>
              <a:t>stabilises</a:t>
            </a:r>
            <a:r>
              <a:rPr lang="en-US" sz="2000" dirty="0"/>
              <a:t> at ~0.96 after ≈200 samples.</a:t>
            </a:r>
          </a:p>
          <a:p>
            <a:r>
              <a:rPr lang="en-US" sz="2000" b="1" dirty="0"/>
              <a:t>No overfitting</a:t>
            </a:r>
            <a:r>
              <a:rPr lang="en-US" sz="2000" dirty="0"/>
              <a:t> – training and validation curves converge.</a:t>
            </a:r>
          </a:p>
          <a:p>
            <a:r>
              <a:rPr lang="en-US" sz="2000" dirty="0"/>
              <a:t>Small gap → low bias &amp; low variance.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713B21C1-57E3-829B-BE0F-0D9EC4FB627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3" t="681" r="-833" b="-1365"/>
          <a:stretch>
            <a:fillRect/>
          </a:stretch>
        </p:blipFill>
        <p:spPr>
          <a:xfrm>
            <a:off x="5003179" y="1380744"/>
            <a:ext cx="7316100" cy="5292000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 anchor="ctr">
            <a:normAutofit/>
          </a:bodyPr>
          <a:lstStyle/>
          <a:p>
            <a:r>
              <a:rPr lang="en-US" sz="3000" b="1" dirty="0"/>
              <a:t>ROC Curves 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52828-C74D-DC31-4EF1-7A5DEACE15DF}"/>
              </a:ext>
            </a:extLst>
          </p:cNvPr>
          <p:cNvSpPr txBox="1"/>
          <p:nvPr/>
        </p:nvSpPr>
        <p:spPr>
          <a:xfrm>
            <a:off x="431172" y="1384847"/>
            <a:ext cx="5467266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kern="1200" dirty="0"/>
              <a:t>Breast Cancer test set:</a:t>
            </a:r>
          </a:p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kern="1200" dirty="0"/>
          </a:p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dirty="0"/>
              <a:t>L2, L1, </a:t>
            </a:r>
            <a:r>
              <a:rPr lang="en-US" kern="1200" dirty="0" err="1"/>
              <a:t>ElasticNet</a:t>
            </a:r>
            <a:r>
              <a:rPr lang="en-US" kern="1200" dirty="0"/>
              <a:t> all achieve AUC = 0.996.</a:t>
            </a:r>
          </a:p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kern="1200" dirty="0"/>
          </a:p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dirty="0"/>
              <a:t>Almost perfect separability.</a:t>
            </a:r>
          </a:p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kern="1200" dirty="0"/>
          </a:p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kern="1200" dirty="0"/>
              <a:t>Conclusion: </a:t>
            </a:r>
            <a:r>
              <a:rPr lang="en-US" kern="1200" dirty="0"/>
              <a:t>For this dataset, any </a:t>
            </a:r>
            <a:r>
              <a:rPr lang="en-US" kern="1200" dirty="0" err="1"/>
              <a:t>regularizer</a:t>
            </a:r>
            <a:r>
              <a:rPr lang="en-US" kern="1200" dirty="0"/>
              <a:t> works; choose based on non‑statistical 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kern="1200" dirty="0"/>
              <a:t>    criteria (e.g. model simplicity).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AC7-4EBD-6C7B-71E2-19F58FD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6FF05BCE-6849-FA19-F274-2666B347084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" t="1144" r="-823" b="-1146"/>
          <a:stretch>
            <a:fillRect/>
          </a:stretch>
        </p:blipFill>
        <p:spPr>
          <a:xfrm>
            <a:off x="5580000" y="324000"/>
            <a:ext cx="6588000" cy="6289629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8" y="347656"/>
            <a:ext cx="11472515" cy="879156"/>
          </a:xfrm>
        </p:spPr>
        <p:txBody>
          <a:bodyPr>
            <a:normAutofit/>
          </a:bodyPr>
          <a:lstStyle/>
          <a:p>
            <a:r>
              <a:rPr lang="en-US" b="1" dirty="0"/>
              <a:t>Feature Importance (L1 on Breast Cancer)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688" y="1765027"/>
            <a:ext cx="6561138" cy="3915774"/>
          </a:xfrm>
        </p:spPr>
        <p:txBody>
          <a:bodyPr>
            <a:normAutofit/>
          </a:bodyPr>
          <a:lstStyle/>
          <a:p>
            <a:r>
              <a:rPr lang="en-US" dirty="0"/>
              <a:t>Top features by absolute coefficient (L1 model):</a:t>
            </a:r>
          </a:p>
          <a:p>
            <a:r>
              <a:rPr lang="en-US" dirty="0"/>
              <a:t>Positive influence: </a:t>
            </a:r>
            <a:r>
              <a:rPr lang="en-US" i="1" dirty="0"/>
              <a:t>mean compactness</a:t>
            </a:r>
            <a:r>
              <a:rPr lang="en-US" dirty="0"/>
              <a:t>, </a:t>
            </a:r>
            <a:r>
              <a:rPr lang="en-US" i="1" dirty="0"/>
              <a:t>texture error</a:t>
            </a:r>
            <a:r>
              <a:rPr lang="en-US" dirty="0"/>
              <a:t>, </a:t>
            </a:r>
            <a:r>
              <a:rPr lang="en-US" i="1" dirty="0"/>
              <a:t>fractal dimension error</a:t>
            </a:r>
            <a:endParaRPr lang="en-US" dirty="0"/>
          </a:p>
          <a:p>
            <a:r>
              <a:rPr lang="en-US" dirty="0"/>
              <a:t>Negative influence: </a:t>
            </a:r>
            <a:r>
              <a:rPr lang="en-US" i="1" dirty="0"/>
              <a:t>worst area</a:t>
            </a:r>
            <a:r>
              <a:rPr lang="en-US" dirty="0"/>
              <a:t>, </a:t>
            </a:r>
            <a:r>
              <a:rPr lang="en-US" i="1" dirty="0"/>
              <a:t>radius error</a:t>
            </a:r>
            <a:r>
              <a:rPr lang="en-US" dirty="0"/>
              <a:t>, </a:t>
            </a:r>
            <a:r>
              <a:rPr lang="en-US" i="1" dirty="0"/>
              <a:t>worst concave points</a:t>
            </a:r>
            <a:endParaRPr lang="en-US" dirty="0"/>
          </a:p>
          <a:p>
            <a:r>
              <a:rPr lang="en-US" b="1" dirty="0"/>
              <a:t>Why L1?</a:t>
            </a:r>
            <a:br>
              <a:rPr lang="en-US" dirty="0"/>
            </a:br>
            <a:r>
              <a:rPr lang="en-US" dirty="0"/>
              <a:t>It automatically selects the most discriminative features → easier to explain to clinicians.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32F8-92FC-BD1A-A9AF-986FE04C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BAD0ED5E-B53A-4090-0575-2966FFCBDE2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" t="316" r="216" b="1582"/>
          <a:stretch>
            <a:fillRect/>
          </a:stretch>
        </p:blipFill>
        <p:spPr>
          <a:xfrm>
            <a:off x="6392786" y="1078594"/>
            <a:ext cx="5484245" cy="5580000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dirty="0"/>
              <a:t>Delivering with confidence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5C7C56F-63D3-9C8E-4E1B-29B91AF590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92169953"/>
              </p:ext>
            </p:extLst>
          </p:nvPr>
        </p:nvGraphicFramePr>
        <p:xfrm>
          <a:off x="284163" y="1597025"/>
          <a:ext cx="9536112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028">
                  <a:extLst>
                    <a:ext uri="{9D8B030D-6E8A-4147-A177-3AD203B41FA5}">
                      <a16:colId xmlns:a16="http://schemas.microsoft.com/office/drawing/2014/main" val="617404151"/>
                    </a:ext>
                  </a:extLst>
                </a:gridCol>
                <a:gridCol w="2384028">
                  <a:extLst>
                    <a:ext uri="{9D8B030D-6E8A-4147-A177-3AD203B41FA5}">
                      <a16:colId xmlns:a16="http://schemas.microsoft.com/office/drawing/2014/main" val="2365655770"/>
                    </a:ext>
                  </a:extLst>
                </a:gridCol>
                <a:gridCol w="2384028">
                  <a:extLst>
                    <a:ext uri="{9D8B030D-6E8A-4147-A177-3AD203B41FA5}">
                      <a16:colId xmlns:a16="http://schemas.microsoft.com/office/drawing/2014/main" val="390965499"/>
                    </a:ext>
                  </a:extLst>
                </a:gridCol>
                <a:gridCol w="2384028">
                  <a:extLst>
                    <a:ext uri="{9D8B030D-6E8A-4147-A177-3AD203B41FA5}">
                      <a16:colId xmlns:a16="http://schemas.microsoft.com/office/drawing/2014/main" val="212113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Dataset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Best Regularizer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Accuracy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Sparsity Achieved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898816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Synthetic (p&gt;&gt;n)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ElasticNet (0.6)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0.66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83 / 2000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8913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Breast Cancer poly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L2 / EN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0.96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L2: none / EN: high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9736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Digits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L1 / EN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0.9917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Yes (sparse)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2701239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43CCF-A463-89C5-41C7-D943D69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B9FAE-EC9E-4A71-0235-BD5CB99071D7}"/>
              </a:ext>
            </a:extLst>
          </p:cNvPr>
          <p:cNvSpPr txBox="1"/>
          <p:nvPr/>
        </p:nvSpPr>
        <p:spPr>
          <a:xfrm>
            <a:off x="157162" y="366423"/>
            <a:ext cx="6094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Summary of All Experiments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360140-01DC-F809-53CC-62B16AD78842}"/>
              </a:ext>
            </a:extLst>
          </p:cNvPr>
          <p:cNvSpPr txBox="1"/>
          <p:nvPr/>
        </p:nvSpPr>
        <p:spPr>
          <a:xfrm>
            <a:off x="284163" y="3356345"/>
            <a:ext cx="609463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Overall: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ElasticNet</a:t>
            </a:r>
            <a:r>
              <a:rPr lang="en-US" dirty="0"/>
              <a:t> is most versatile – works well in high‑dim and polynomial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L1 gives interpretable models when features are not too correlated.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L2 is safe but lacks feature selection.</a:t>
            </a:r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32" y="293914"/>
            <a:ext cx="8430768" cy="14695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Recommendations</a:t>
            </a:r>
            <a:br>
              <a:rPr lang="en-US" b="1" dirty="0"/>
            </a:br>
            <a:r>
              <a:rPr lang="en-US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6679F-0290-515C-BB0F-947C10AC81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172" y="1420586"/>
            <a:ext cx="8430768" cy="46863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Use L1 or ElasticNet when:</a:t>
            </a:r>
            <a:endParaRPr lang="en-US" sz="2400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You need feature selection (p &gt;&gt; n or many polynomial terms).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Model interpretability is important.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Use L2 when:</a:t>
            </a:r>
            <a:endParaRPr lang="en-US" sz="2400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All features are relevant (e.g. low‑dimensional, well‑designed).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You only care about prediction, not explanation.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Always perform:</a:t>
            </a:r>
            <a:endParaRPr lang="en-US" sz="2400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Grid search over C (and l1_ratio for EN).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Cross‑validation &amp; learning curves to diagnose overfitting.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76B28-5C6B-5522-7FC1-73D6F3CF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F7DF3E-ADAF-A116-985D-D579B3AED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31" y="293915"/>
            <a:ext cx="11439100" cy="101237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Limitations &amp; Future 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161A17-1465-EE42-7708-0D400648C0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0350" y="1771650"/>
            <a:ext cx="8623021" cy="41229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Limitations:</a:t>
            </a:r>
            <a:endParaRPr lang="en-US" sz="2000" dirty="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Synthetic data only 500 samples – real high‑dim data may be noisier.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Polynomial experiment used degree 2 only.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Digits binarized (only “3” vs others) – multiclass extension 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Future directions:</a:t>
            </a:r>
            <a:endParaRPr lang="en-US" sz="2000" dirty="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Try </a:t>
            </a:r>
            <a:r>
              <a:rPr lang="en-US" sz="1800" b="1" dirty="0"/>
              <a:t>SVM with RBF kernel</a:t>
            </a:r>
            <a:r>
              <a:rPr lang="en-US" sz="1800" dirty="0"/>
              <a:t> on polynomial features.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Use </a:t>
            </a:r>
            <a:r>
              <a:rPr lang="en-US" sz="1800" b="1" dirty="0"/>
              <a:t>Stability selection</a:t>
            </a:r>
            <a:r>
              <a:rPr lang="en-US" sz="1800" dirty="0"/>
              <a:t> to confirm feature importance.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Extend to </a:t>
            </a:r>
            <a:r>
              <a:rPr lang="en-US" sz="1800" b="1" dirty="0"/>
              <a:t>multinomial logistic regression</a:t>
            </a:r>
            <a:r>
              <a:rPr lang="en-US" sz="1800" dirty="0"/>
              <a:t> (Digits 10 classes).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FB9B5-548C-2332-7651-D549D766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717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09B1-CECE-7466-7044-9D73619E5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10451592" cy="6202680"/>
          </a:xfrm>
        </p:spPr>
        <p:txBody>
          <a:bodyPr anchor="t">
            <a:normAutofit/>
          </a:bodyPr>
          <a:lstStyle/>
          <a:p>
            <a:pPr algn="ctr"/>
            <a:br>
              <a:rPr lang="en-US" sz="7200" dirty="0">
                <a:solidFill>
                  <a:schemeClr val="bg1"/>
                </a:solidFill>
              </a:rPr>
            </a:br>
            <a:r>
              <a:rPr lang="en-US" sz="7200" dirty="0">
                <a:solidFill>
                  <a:schemeClr val="bg1"/>
                </a:solidFill>
              </a:rPr>
              <a:t>THANK YOU!</a:t>
            </a:r>
            <a:br>
              <a:rPr lang="en-US" sz="7200" dirty="0">
                <a:solidFill>
                  <a:schemeClr val="bg1"/>
                </a:solidFill>
              </a:rPr>
            </a:br>
            <a:br>
              <a:rPr lang="en-US" sz="7200" dirty="0">
                <a:solidFill>
                  <a:schemeClr val="bg1"/>
                </a:solidFill>
              </a:rPr>
            </a:br>
            <a:br>
              <a:rPr lang="en-US" sz="7200" dirty="0">
                <a:solidFill>
                  <a:schemeClr val="bg1"/>
                </a:solidFill>
              </a:rPr>
            </a:br>
            <a:br>
              <a:rPr lang="en-US" sz="7200" dirty="0">
                <a:solidFill>
                  <a:schemeClr val="bg1"/>
                </a:solidFill>
              </a:rPr>
            </a:br>
            <a:r>
              <a:rPr lang="en-US" sz="7200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8C8-C838-438B-F934-0218EC26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{C5CCFB0E-F115-452F-B378-233202F9E527}05f950ec-c865-457c-93ae-9eb2ef1c603f-TFa19fa653-f273-4169-96ef-448bb1cd1027_win32</Template>
  <TotalTime>104</TotalTime>
  <Words>881</Words>
  <Application>Microsoft Office PowerPoint</Application>
  <PresentationFormat>Widescreen</PresentationFormat>
  <Paragraphs>148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Neue Haas Grotesk Text Pro</vt:lpstr>
      <vt:lpstr>quote-cjk-patch</vt:lpstr>
      <vt:lpstr>OasisVTI</vt:lpstr>
      <vt:lpstr>Title: Regularized Logistic Regression: Performance, Sparsity, And Feature Selection  Subtitle: Experiments On Synthetic, Breast Cancer (Polynomial), And Digits Datasets  Date: [Date]</vt:lpstr>
      <vt:lpstr>Agenda</vt:lpstr>
      <vt:lpstr>Why Regularization Matters</vt:lpstr>
      <vt:lpstr>Experiment 1 – Synthetic High‑Dimensional Data </vt:lpstr>
      <vt:lpstr>PowerPoint Presentation</vt:lpstr>
      <vt:lpstr>Experiment 2 – Breast Cancer + Polynomial Features</vt:lpstr>
      <vt:lpstr>Experiment 3 – Digits (3 vs. not‑3)</vt:lpstr>
      <vt:lpstr>Cross‑Validation &amp; ANOVA</vt:lpstr>
      <vt:lpstr>Learning Curve – L2 Logistic Regression</vt:lpstr>
      <vt:lpstr>ROC Curves  </vt:lpstr>
      <vt:lpstr>Feature Importance (L1 on Breast Cancer) </vt:lpstr>
      <vt:lpstr>Delivering with confidence </vt:lpstr>
      <vt:lpstr>Recommendations  </vt:lpstr>
      <vt:lpstr>Limitations &amp; Future Work</vt:lpstr>
      <vt:lpstr> THANK YOU!  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Abubakar Ahmad</dc:creator>
  <cp:lastModifiedBy>Abubakar Ahmad</cp:lastModifiedBy>
  <cp:revision>1</cp:revision>
  <dcterms:created xsi:type="dcterms:W3CDTF">2026-05-29T02:31:04Z</dcterms:created>
  <dcterms:modified xsi:type="dcterms:W3CDTF">2026-05-29T04:15:46Z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